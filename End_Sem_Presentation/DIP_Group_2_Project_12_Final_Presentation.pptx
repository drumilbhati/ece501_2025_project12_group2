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  <p:embeddedFont>
      <p:font typeface="Helvetica Neue Ligh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85YeUC7dKWBt8L81qWdz5Hsp/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C4CA43-B348-4903-8B0F-9CC640885259}">
  <a:tblStyle styleId="{3BC4CA43-B348-4903-8B0F-9CC64088525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22" Type="http://schemas.openxmlformats.org/officeDocument/2006/relationships/font" Target="fonts/HelveticaNeue-boldItalic.fntdata"/><Relationship Id="rId21" Type="http://schemas.openxmlformats.org/officeDocument/2006/relationships/font" Target="fonts/HelveticaNeue-italic.fntdata"/><Relationship Id="rId24" Type="http://schemas.openxmlformats.org/officeDocument/2006/relationships/font" Target="fonts/HelveticaNeueLight-bold.fntdata"/><Relationship Id="rId23" Type="http://schemas.openxmlformats.org/officeDocument/2006/relationships/font" Target="fonts/HelveticaNeue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Light-boldItalic.fntdata"/><Relationship Id="rId25" Type="http://schemas.openxmlformats.org/officeDocument/2006/relationships/font" Target="fonts/HelveticaNeueLight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HelveticaNeue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45ae4231a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45ae4231a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a45ae4231a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a0de8e63f_2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8a0de8e63f_2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4543af444_1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4543af444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4543af444_1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45ae4231a_1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45ae4231a_1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45ae4231a_1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45ae4231a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45ae4231a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a45ae4231a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45ae4231a_1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45ae4231a_1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45ae4231a_1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45ae4231a_1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45ae4231a_1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45ae4231a_1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44e0185fe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44e0185fe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44e0185fe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5f26b03a4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85f26b03a4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g385f26b03a4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a0de8e63f_2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8a0de8e63f_2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lackhat.com/presentations/bh-dc-08/Krawetz/Whitepaper/bh-dc-08-krawetz-WP.pdf" TargetMode="External"/><Relationship Id="rId4" Type="http://schemas.openxmlformats.org/officeDocument/2006/relationships/hyperlink" Target="https://blackhat.com/presentations/bh-dc-08/Krawetz/Whitepaper/bh-dc-08-krawetz-WP.pdf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730050" y="3833125"/>
            <a:ext cx="10731900" cy="835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>
                <a:latin typeface="Arial"/>
                <a:ea typeface="Arial"/>
                <a:cs typeface="Arial"/>
                <a:sym typeface="Arial"/>
              </a:rPr>
              <a:t>ECE501-DIGITAL IMAGE PROCESSING</a:t>
            </a:r>
            <a:endParaRPr sz="4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46100" y="4683175"/>
            <a:ext cx="62535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</a:rPr>
              <a:t>GROUP - 2</a:t>
            </a:r>
            <a:endParaRPr b="1" i="0" sz="2800" u="none" cap="none" strike="noStrike">
              <a:solidFill>
                <a:schemeClr val="lt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0" y="5444500"/>
            <a:ext cx="706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Image Tampering Detection (Forgery Localization)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INTRODUCTION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Digital images are crucial in media, surveillance, and legal evidence, making their authenticity essential.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Advanced editing tools and AI models make splicing and other manipulations extremely easy and realistic.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Spliced images can mislead viewers, spread misinformation, and compromise forensic investigations.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This work focuses on splicing forgery detection, identifying and localizing manipulated regions using ELA-based analysis.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45ae4231a_0_8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Work Done (Before Mid term)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a45ae4231a_0_8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Finalized full pipeline for copy-move forgery detection.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Implemented segmentation based on lighting, texture, and sharpness.</a:t>
            </a:r>
            <a:br>
              <a:rPr lang="en-US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Selected and validated the CASIA1 dataset with ground-truth masks.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Performed Feature Matching and Region Localization to identify forged areas.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With ELA-based methods splicing detection provided more clear results and artifacts.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a45ae4231a_0_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a0de8e63f_2_14"/>
          <p:cNvSpPr txBox="1"/>
          <p:nvPr/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UPDATED METHODOLOGY</a:t>
            </a:r>
            <a:endParaRPr b="1" sz="4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g38a0de8e63f_2_14"/>
          <p:cNvSpPr txBox="1"/>
          <p:nvPr/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|  </a:t>
            </a:r>
            <a:fld id="{00000000-1234-1234-1234-123412341234}" type="slidenum">
              <a:rPr b="1" lang="en-US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b="1" sz="1200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8" name="Google Shape;118;g38a0de8e63f_2_14"/>
          <p:cNvSpPr txBox="1"/>
          <p:nvPr/>
        </p:nvSpPr>
        <p:spPr>
          <a:xfrm>
            <a:off x="394826" y="1723025"/>
            <a:ext cx="7666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ELA: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 Error Level Analysis (ELA) heatmap is created by re-saving the image at a specific JPEG quality (80%).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 Difference: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script then calculates the pixel-by-pixel difference between the original and the re-compressed image.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This ELA heatmap is converted to a simple black-and-white "predicted mask" by applying a binary threshold (value 25).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Refine Mask: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Morphological "opening" is used to remove small, noisy white spots (false positives) from the mask.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Fill Gaps: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Morphological "closing" is then applied to fill in small black holes within the detected white regions.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Splicing: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resulting red boundaries on the image highlight the spliced areas.</a:t>
            </a:r>
            <a:endParaRPr b="1"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8a0de8e63f_2_14"/>
          <p:cNvSpPr txBox="1"/>
          <p:nvPr/>
        </p:nvSpPr>
        <p:spPr>
          <a:xfrm>
            <a:off x="2320750" y="6204850"/>
            <a:ext cx="56490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20" name="Google Shape;120;g38a0de8e63f_2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9575" y="615700"/>
            <a:ext cx="3659240" cy="242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8a0de8e63f_2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9575" y="3450188"/>
            <a:ext cx="3659250" cy="242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8a0de8e63f_2_14"/>
          <p:cNvSpPr txBox="1"/>
          <p:nvPr/>
        </p:nvSpPr>
        <p:spPr>
          <a:xfrm>
            <a:off x="8850500" y="2970900"/>
            <a:ext cx="24174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Tampered Input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g38a0de8e63f_2_14"/>
          <p:cNvSpPr txBox="1"/>
          <p:nvPr/>
        </p:nvSpPr>
        <p:spPr>
          <a:xfrm>
            <a:off x="8850500" y="5889175"/>
            <a:ext cx="24174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Output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4543af444_1_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30" name="Google Shape;130;g3a4543af444_1_16"/>
          <p:cNvSpPr txBox="1"/>
          <p:nvPr/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|</a:t>
            </a:r>
            <a:r>
              <a:rPr lang="en-US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 </a:t>
            </a:r>
            <a:fld id="{00000000-1234-1234-1234-123412341234}" type="slidenum">
              <a:rPr lang="en-US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1200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31" name="Google Shape;131;g3a4543af444_1_16"/>
          <p:cNvPicPr preferRelativeResize="0"/>
          <p:nvPr/>
        </p:nvPicPr>
        <p:blipFill rotWithShape="1">
          <a:blip r:embed="rId3">
            <a:alphaModFix/>
          </a:blip>
          <a:srcRect b="0" l="0" r="59805" t="0"/>
          <a:stretch/>
        </p:blipFill>
        <p:spPr>
          <a:xfrm>
            <a:off x="1195550" y="1018075"/>
            <a:ext cx="4900450" cy="20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a4543af444_1_16"/>
          <p:cNvPicPr preferRelativeResize="0"/>
          <p:nvPr/>
        </p:nvPicPr>
        <p:blipFill rotWithShape="1">
          <a:blip r:embed="rId3">
            <a:alphaModFix/>
          </a:blip>
          <a:srcRect b="0" l="39912" r="20326" t="0"/>
          <a:stretch/>
        </p:blipFill>
        <p:spPr>
          <a:xfrm>
            <a:off x="6096012" y="1018075"/>
            <a:ext cx="4847874" cy="20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a4543af444_1_16"/>
          <p:cNvPicPr preferRelativeResize="0"/>
          <p:nvPr/>
        </p:nvPicPr>
        <p:blipFill rotWithShape="1">
          <a:blip r:embed="rId3">
            <a:alphaModFix/>
          </a:blip>
          <a:srcRect b="0" l="79698" r="0" t="0"/>
          <a:stretch/>
        </p:blipFill>
        <p:spPr>
          <a:xfrm>
            <a:off x="3859924" y="3141700"/>
            <a:ext cx="4472152" cy="363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a4543af444_1_16"/>
          <p:cNvSpPr txBox="1"/>
          <p:nvPr/>
        </p:nvSpPr>
        <p:spPr>
          <a:xfrm>
            <a:off x="2056075" y="404800"/>
            <a:ext cx="31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dataset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g3a4543af444_1_16"/>
          <p:cNvSpPr txBox="1"/>
          <p:nvPr/>
        </p:nvSpPr>
        <p:spPr>
          <a:xfrm>
            <a:off x="6345688" y="404800"/>
            <a:ext cx="4348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Forgery</a:t>
            </a: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45ae4231a_1_26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42" name="Google Shape;142;g3a45ae4231a_1_2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43" name="Google Shape;143;g3a45ae4231a_1_26"/>
          <p:cNvSpPr txBox="1"/>
          <p:nvPr/>
        </p:nvSpPr>
        <p:spPr>
          <a:xfrm>
            <a:off x="6169525" y="1750600"/>
            <a:ext cx="57171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Best accuracy around quality level 70.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Higher JPEG qualities reduce visible ELA artifacts and lower detection accuracy.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	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Accuracy dips around 90 and rises slightly at 95.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Lower quality levels enhance tampering traces more clearly.</a:t>
            </a:r>
            <a:br>
              <a:rPr lang="en-US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44" name="Google Shape;144;g3a45ae4231a_1_26" title="g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900" y="1750601"/>
            <a:ext cx="5717100" cy="417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45ae4231a_1_6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51" name="Google Shape;151;g3a45ae4231a_1_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52" name="Google Shape;152;g3a45ae4231a_1_6"/>
          <p:cNvSpPr txBox="1"/>
          <p:nvPr/>
        </p:nvSpPr>
        <p:spPr>
          <a:xfrm>
            <a:off x="6169525" y="1750600"/>
            <a:ext cx="57171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Low thresholds → high noise → poor accuracy (~34%).</a:t>
            </a:r>
            <a:br>
              <a:rPr lang="en-US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Accuracy rises sharply when threshold increases from 5 to 10.</a:t>
            </a:r>
            <a:br>
              <a:rPr lang="en-US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Performance stabilizes around 73–75% for thresholds between 15–25.</a:t>
            </a:r>
            <a:br>
              <a:rPr lang="en-US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Optimal thresholds fall in the 10–25 range.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53" name="Google Shape;153;g3a45ae4231a_1_6" title="g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375" y="1664375"/>
            <a:ext cx="5793150" cy="42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45ae4231a_1_34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RESULTS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a45ae4231a_1_3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pic>
        <p:nvPicPr>
          <p:cNvPr id="161" name="Google Shape;161;g3a45ae4231a_1_34" title="g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50" y="1773250"/>
            <a:ext cx="5507675" cy="41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a45ae4231a_1_34"/>
          <p:cNvSpPr txBox="1"/>
          <p:nvPr/>
        </p:nvSpPr>
        <p:spPr>
          <a:xfrm>
            <a:off x="6169525" y="1750600"/>
            <a:ext cx="57171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Best accuracy around quality level 70.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Higher JPEG qualities reduce visible ELA artifacts and lower detection accuracy</a:t>
            </a:r>
            <a:r>
              <a:rPr lang="en-US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Accuracy dips around 90 and rises slightly at 95</a:t>
            </a:r>
            <a:r>
              <a:rPr lang="en-US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Lower quality levels enhance tampering traces more clearly.</a:t>
            </a:r>
            <a:br>
              <a:rPr lang="en-US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45ae4231a_1_49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RESULTS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a45ae4231a_1_4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a45ae4231a_1_49"/>
          <p:cNvSpPr txBox="1"/>
          <p:nvPr/>
        </p:nvSpPr>
        <p:spPr>
          <a:xfrm>
            <a:off x="507150" y="1773250"/>
            <a:ext cx="55890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Best combinations: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Morph Kernel Size: 9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Binary Threshold: 15–25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ELA Quality: 70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Error Analysis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Misclassifications often occur when:</a:t>
            </a:r>
            <a:endParaRPr sz="2100">
              <a:solidFill>
                <a:schemeClr val="dk1"/>
              </a:solidFill>
            </a:endParaRPr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en-US" sz="2100">
                <a:solidFill>
                  <a:schemeClr val="dk1"/>
                </a:solidFill>
              </a:rPr>
              <a:t>the tampered region is very small,</a:t>
            </a:r>
            <a:endParaRPr sz="2100">
              <a:solidFill>
                <a:schemeClr val="dk1"/>
              </a:solidFill>
            </a:endParaRPr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en-US" sz="2100">
                <a:solidFill>
                  <a:schemeClr val="dk1"/>
                </a:solidFill>
              </a:rPr>
              <a:t>the image is heavily compressed,</a:t>
            </a:r>
            <a:endParaRPr sz="2100">
              <a:solidFill>
                <a:schemeClr val="dk1"/>
              </a:solidFill>
            </a:endParaRPr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en-US" sz="2100">
                <a:solidFill>
                  <a:schemeClr val="dk1"/>
                </a:solidFill>
              </a:rPr>
              <a:t>or the manipulation is too subtle.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71" name="Google Shape;171;g3a45ae4231a_1_49"/>
          <p:cNvSpPr txBox="1"/>
          <p:nvPr/>
        </p:nvSpPr>
        <p:spPr>
          <a:xfrm>
            <a:off x="6261325" y="1773238"/>
            <a:ext cx="5589000" cy="4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Morphology improves quality of detection.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Correct thresholding is essential.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ELA works best with lower JPEG quality values.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Combined, these lead to significant improvement in accuracy.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44e0185fe_0_7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CONCLUSION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a44e0185fe_0_7"/>
          <p:cNvSpPr txBox="1"/>
          <p:nvPr>
            <p:ph idx="1" type="body"/>
          </p:nvPr>
        </p:nvSpPr>
        <p:spPr>
          <a:xfrm>
            <a:off x="582425" y="1852000"/>
            <a:ext cx="11163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This project successfully detects the tampered regions using ELA* based approach.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Binary Thresholding helped produce a clean tampering mask.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Final outlined regions clearly highlights the 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possible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splicing.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Performance was measured by plotting ELA* quality, Binary threshold and morph kernel size.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Overall the system demonstrates that ELA* is a effective method for forgery localization.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It provides a strong base for future enhancements using advanced techniques.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a44e0185fe_0_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80" name="Google Shape;180;g3a44e0185fe_0_7"/>
          <p:cNvSpPr txBox="1"/>
          <p:nvPr/>
        </p:nvSpPr>
        <p:spPr>
          <a:xfrm>
            <a:off x="4769801" y="6143300"/>
            <a:ext cx="54105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*ELA - Error Level Analysis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5f26b03a4_2_0"/>
          <p:cNvSpPr txBox="1"/>
          <p:nvPr>
            <p:ph type="title"/>
          </p:nvPr>
        </p:nvSpPr>
        <p:spPr>
          <a:xfrm>
            <a:off x="587378" y="-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REFERENCES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85f26b03a4_2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88" name="Google Shape;188;g385f26b03a4_2_0"/>
          <p:cNvSpPr txBox="1"/>
          <p:nvPr>
            <p:ph idx="1" type="body"/>
          </p:nvPr>
        </p:nvSpPr>
        <p:spPr>
          <a:xfrm>
            <a:off x="907449" y="125340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H. Zhang, V. M. Patel and A. K. Roy-Chowdhury, “Image Splicing Localization Using a Multi-task Fully Convolutional Network,”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Proc. IEEE Conf. Computer Vision and Pattern Recognition Workshops (CVPRW)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2017, pp. 1881–1889.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A. Singh and S. Kaur, “Passive Image Forgery Detection Using Hybrid Features,”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Engineering, Technology &amp; Applied Science Research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vol. 13, no. 1, pp. 9593–9600, 2023.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N. Krawetz, “A Picture’s Worth… Digital Forensics and Image Analysis,” 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BlackHat Conference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, Washington DC, 2008, pp. 1–24. [Online]. Available:</a:t>
            </a:r>
            <a:r>
              <a:rPr lang="en-US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n-US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https://blackhat.com/presentations/bh-dc-08/Krawetz/Whitepaper/bh-dc-08-krawetz-WP.pdf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a0de8e63f_2_35"/>
          <p:cNvSpPr txBox="1"/>
          <p:nvPr>
            <p:ph type="title"/>
          </p:nvPr>
        </p:nvSpPr>
        <p:spPr>
          <a:xfrm>
            <a:off x="3940352" y="2766150"/>
            <a:ext cx="4311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5400">
                <a:latin typeface="Arial"/>
                <a:ea typeface="Arial"/>
                <a:cs typeface="Arial"/>
                <a:sym typeface="Arial"/>
              </a:rPr>
              <a:t>THANK YOU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4" name="Google Shape;194;g38a0de8e63f_2_35"/>
          <p:cNvGraphicFramePr/>
          <p:nvPr/>
        </p:nvGraphicFramePr>
        <p:xfrm>
          <a:off x="8195050" y="451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{3BC4CA43-B348-4903-8B0F-9CC640885259}</a:tableStyleId>
              </a:tblPr>
              <a:tblGrid>
                <a:gridCol w="1804225"/>
                <a:gridCol w="1804225"/>
              </a:tblGrid>
              <a:tr h="41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Name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AU ID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411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Vidhan Nahar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AU2340199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Prasham Mehta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AU2340135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Dhairya Rupani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AU2340195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6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Drumil Bhati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AU2340211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